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5" r:id="rId7"/>
    <p:sldId id="261" r:id="rId8"/>
    <p:sldId id="262" r:id="rId9"/>
    <p:sldId id="263"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0" d="100"/>
          <a:sy n="80" d="100"/>
        </p:scale>
        <p:origin x="51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B90F2F-9AF1-45DF-8CD2-7044C53445B6}" type="datetimeFigureOut">
              <a:rPr lang="en-IN" smtClean="0"/>
              <a:t>04-07-2025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16AA65-2A47-49EC-BEC5-62E15631FA87}" type="slidenum">
              <a:rPr lang="en-IN" smtClean="0"/>
              <a:t>‹#›</a:t>
            </a:fld>
            <a:endParaRPr lang="en-IN"/>
          </a:p>
        </p:txBody>
      </p:sp>
    </p:spTree>
    <p:extLst>
      <p:ext uri="{BB962C8B-B14F-4D97-AF65-F5344CB8AC3E}">
        <p14:creationId xmlns:p14="http://schemas.microsoft.com/office/powerpoint/2010/main" val="2858410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016AA65-2A47-49EC-BEC5-62E15631FA87}" type="slidenum">
              <a:rPr lang="en-IN" smtClean="0"/>
              <a:t>2</a:t>
            </a:fld>
            <a:endParaRPr lang="en-IN"/>
          </a:p>
        </p:txBody>
      </p:sp>
    </p:spTree>
    <p:extLst>
      <p:ext uri="{BB962C8B-B14F-4D97-AF65-F5344CB8AC3E}">
        <p14:creationId xmlns:p14="http://schemas.microsoft.com/office/powerpoint/2010/main" val="3382988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6D9C8-89A6-747E-369B-5359BE02384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9BF982B-C354-5175-FED0-A4EDF257436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FC08798-F942-D142-5560-95178111AE92}"/>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5" name="Footer Placeholder 4">
            <a:extLst>
              <a:ext uri="{FF2B5EF4-FFF2-40B4-BE49-F238E27FC236}">
                <a16:creationId xmlns:a16="http://schemas.microsoft.com/office/drawing/2014/main" id="{F958CC57-FBF4-4FA0-537E-91003968AB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5633DB-9D9F-7F5A-F4D6-B55E60E14AFD}"/>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3115557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881A4-29EC-2D93-C00E-6D64F1B3ACC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B34D0C-E4E0-C5F9-E939-113EFFF0334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6DE993-DBFE-0A5E-3CFC-8FF8639EFB1C}"/>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5" name="Footer Placeholder 4">
            <a:extLst>
              <a:ext uri="{FF2B5EF4-FFF2-40B4-BE49-F238E27FC236}">
                <a16:creationId xmlns:a16="http://schemas.microsoft.com/office/drawing/2014/main" id="{24B151DF-ABF4-1E1C-A720-CDB8A0910B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D87CCC-E3AB-A7E5-8F95-017F1412A0A9}"/>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1083740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41D81-7FA8-8BBF-4858-4DD30413E2C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37961F2-38C2-6263-0F1F-988192CFC0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34ADDE-B50C-EC7A-9C92-BD741EEAA86A}"/>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5" name="Footer Placeholder 4">
            <a:extLst>
              <a:ext uri="{FF2B5EF4-FFF2-40B4-BE49-F238E27FC236}">
                <a16:creationId xmlns:a16="http://schemas.microsoft.com/office/drawing/2014/main" id="{9168ABF6-99B7-8F21-8708-6CD07000E4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4861A4-6ACD-A9AE-6230-D2D5AEA42DEC}"/>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2915369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6301F-1320-7449-3497-49AC11C061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48EF49D-2D4C-A8EC-4B8E-E177B7D0C4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D373EA1-B3CF-502C-0CFD-15D3D10DA5E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74C2553-138C-8B48-7AB1-BC649C9F7999}"/>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6" name="Footer Placeholder 5">
            <a:extLst>
              <a:ext uri="{FF2B5EF4-FFF2-40B4-BE49-F238E27FC236}">
                <a16:creationId xmlns:a16="http://schemas.microsoft.com/office/drawing/2014/main" id="{1632AC84-2181-55E1-5B07-F76CE87F21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F018D8-20F4-C743-AA0B-B2C8DA853C15}"/>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2021305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6DA53-3451-1531-5840-F0F0F9A7CE2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D45ADA-8D7D-CAE7-A9D7-6E504D643F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5AAC2D-66B4-1B8F-A097-22F4D4F821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FF8942-757B-DFEA-2857-707E86DD18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9A721A-50AE-D9FA-F292-2D75CE1C138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775A743-664E-6184-8577-E88B7306B238}"/>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8" name="Footer Placeholder 7">
            <a:extLst>
              <a:ext uri="{FF2B5EF4-FFF2-40B4-BE49-F238E27FC236}">
                <a16:creationId xmlns:a16="http://schemas.microsoft.com/office/drawing/2014/main" id="{0A3F0AD8-C19B-DF42-BA68-CD53FD99072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4D10977-35CB-3A0A-A24F-255471EC49FB}"/>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2787100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188C-3E96-3496-EFAF-AAEB9D3998D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26DDA87-26ED-F567-6CFB-08953F74F730}"/>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4" name="Footer Placeholder 3">
            <a:extLst>
              <a:ext uri="{FF2B5EF4-FFF2-40B4-BE49-F238E27FC236}">
                <a16:creationId xmlns:a16="http://schemas.microsoft.com/office/drawing/2014/main" id="{C7CE3A5A-6224-28FE-93B2-3D82510DE45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7F555A3-2325-43B0-E378-16B721FBAA61}"/>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3496094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331622-A8C2-71A6-394D-F208B59E18CE}"/>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3" name="Footer Placeholder 2">
            <a:extLst>
              <a:ext uri="{FF2B5EF4-FFF2-40B4-BE49-F238E27FC236}">
                <a16:creationId xmlns:a16="http://schemas.microsoft.com/office/drawing/2014/main" id="{D44FC7C7-9CAD-FF17-DA9B-3BC74D630A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D772AE5-EFBD-D4EC-35D7-93A4DC282EC7}"/>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2705512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66E7-5018-73A3-CF28-3CB5A7767F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A0FE2D-615A-1EF9-4F3D-8C5CF6D4DE6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7253DD4-DDAA-4EF4-3521-6F65AA16EF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EC2F9-C18E-76E5-80ED-0EEF16090356}"/>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6" name="Footer Placeholder 5">
            <a:extLst>
              <a:ext uri="{FF2B5EF4-FFF2-40B4-BE49-F238E27FC236}">
                <a16:creationId xmlns:a16="http://schemas.microsoft.com/office/drawing/2014/main" id="{F54B4DB7-ABB1-12AB-A43B-68F0F95184E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EF34FC7-98DE-2CAF-B5DE-CC0BC8193262}"/>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1336573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6837D-28ED-EE3D-05FD-08FB871B35A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75A283-805E-4764-59FB-FD168A88DE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17628A-7F22-9CCC-44C7-6EF2F3CC81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8B9E33-1831-255F-4AE5-1C2FE6E422A0}"/>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6" name="Footer Placeholder 5">
            <a:extLst>
              <a:ext uri="{FF2B5EF4-FFF2-40B4-BE49-F238E27FC236}">
                <a16:creationId xmlns:a16="http://schemas.microsoft.com/office/drawing/2014/main" id="{413E85D8-66B7-561B-D17E-3AF716AB53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FBA0AD-EA27-6BB5-DE6F-B7412B27F664}"/>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4285663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F65EE-D16C-0CFC-E177-0DA6EBF9D3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37D760-047E-21D4-ECAA-7545540183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87C3DD3-5D78-C4D4-B493-5BB36DB91BC5}"/>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5" name="Footer Placeholder 4">
            <a:extLst>
              <a:ext uri="{FF2B5EF4-FFF2-40B4-BE49-F238E27FC236}">
                <a16:creationId xmlns:a16="http://schemas.microsoft.com/office/drawing/2014/main" id="{072D2E99-6B0F-FA21-E570-873F04AF26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60F3A4-21F7-BE74-D714-98EC611ED127}"/>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3197702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886452-1DCA-29B3-A24D-AF6CD12B98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F002E2-6342-CDD5-FDCB-25E0FAA8F5D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4AB454-AC30-C8D6-1BD2-746D3ECB94E2}"/>
              </a:ext>
            </a:extLst>
          </p:cNvPr>
          <p:cNvSpPr>
            <a:spLocks noGrp="1"/>
          </p:cNvSpPr>
          <p:nvPr>
            <p:ph type="dt" sz="half" idx="10"/>
          </p:nvPr>
        </p:nvSpPr>
        <p:spPr/>
        <p:txBody>
          <a:bodyPr/>
          <a:lstStyle/>
          <a:p>
            <a:fld id="{144D69EE-F890-4088-BAFF-0AE89800908A}" type="datetimeFigureOut">
              <a:rPr lang="en-IN" smtClean="0"/>
              <a:t>04-07-2025</a:t>
            </a:fld>
            <a:endParaRPr lang="en-IN"/>
          </a:p>
        </p:txBody>
      </p:sp>
      <p:sp>
        <p:nvSpPr>
          <p:cNvPr id="5" name="Footer Placeholder 4">
            <a:extLst>
              <a:ext uri="{FF2B5EF4-FFF2-40B4-BE49-F238E27FC236}">
                <a16:creationId xmlns:a16="http://schemas.microsoft.com/office/drawing/2014/main" id="{D591BE20-BE2E-E542-E5B8-862748E2A2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EA8B3A9-FFCB-DF23-15B4-3CBB698DDAEC}"/>
              </a:ext>
            </a:extLst>
          </p:cNvPr>
          <p:cNvSpPr>
            <a:spLocks noGrp="1"/>
          </p:cNvSpPr>
          <p:nvPr>
            <p:ph type="sldNum" sz="quarter" idx="12"/>
          </p:nvPr>
        </p:nvSpPr>
        <p:spPr/>
        <p:txBody>
          <a:bodyPr/>
          <a:lstStyle/>
          <a:p>
            <a:fld id="{EFCCCD1C-AEEA-4CC7-9164-B0978E00E51B}" type="slidenum">
              <a:rPr lang="en-IN" smtClean="0"/>
              <a:t>‹#›</a:t>
            </a:fld>
            <a:endParaRPr lang="en-IN"/>
          </a:p>
        </p:txBody>
      </p:sp>
    </p:spTree>
    <p:extLst>
      <p:ext uri="{BB962C8B-B14F-4D97-AF65-F5344CB8AC3E}">
        <p14:creationId xmlns:p14="http://schemas.microsoft.com/office/powerpoint/2010/main" val="4024660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FB363-20D2-5B29-F85E-81E52D44644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551596-F430-7EF0-065E-F0FB8515BD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97F68D-CF5E-1671-F938-0D36DD5594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4D69EE-F890-4088-BAFF-0AE89800908A}" type="datetimeFigureOut">
              <a:rPr lang="en-IN" smtClean="0"/>
              <a:t>04-07-2025</a:t>
            </a:fld>
            <a:endParaRPr lang="en-IN"/>
          </a:p>
        </p:txBody>
      </p:sp>
      <p:sp>
        <p:nvSpPr>
          <p:cNvPr id="5" name="Footer Placeholder 4">
            <a:extLst>
              <a:ext uri="{FF2B5EF4-FFF2-40B4-BE49-F238E27FC236}">
                <a16:creationId xmlns:a16="http://schemas.microsoft.com/office/drawing/2014/main" id="{4BC4A65C-4364-5AA5-B1AA-B0BE7C357E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92C24B7-CDAA-52E0-E908-79C4601ACA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CCCD1C-AEEA-4CC7-9164-B0978E00E51B}" type="slidenum">
              <a:rPr lang="en-IN" smtClean="0"/>
              <a:t>‹#›</a:t>
            </a:fld>
            <a:endParaRPr lang="en-IN"/>
          </a:p>
        </p:txBody>
      </p:sp>
    </p:spTree>
    <p:extLst>
      <p:ext uri="{BB962C8B-B14F-4D97-AF65-F5344CB8AC3E}">
        <p14:creationId xmlns:p14="http://schemas.microsoft.com/office/powerpoint/2010/main" val="35163905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FC5CB-875E-4CEB-9756-6D3AD1A2000D}"/>
              </a:ext>
            </a:extLst>
          </p:cNvPr>
          <p:cNvSpPr>
            <a:spLocks noGrp="1"/>
          </p:cNvSpPr>
          <p:nvPr>
            <p:ph type="ctrTitle"/>
          </p:nvPr>
        </p:nvSpPr>
        <p:spPr>
          <a:xfrm>
            <a:off x="1524000" y="974191"/>
            <a:ext cx="9144000" cy="2387600"/>
          </a:xfrm>
        </p:spPr>
        <p:txBody>
          <a:bodyPr>
            <a:normAutofit fontScale="90000"/>
          </a:bodyPr>
          <a:lstStyle/>
          <a:p>
            <a:r>
              <a:rPr lang="en-US" dirty="0"/>
              <a:t>Design and Implementation of FPGA-based secured communication system</a:t>
            </a:r>
            <a:endParaRPr lang="en-IN" dirty="0"/>
          </a:p>
        </p:txBody>
      </p:sp>
      <p:sp>
        <p:nvSpPr>
          <p:cNvPr id="4" name="TextBox 3">
            <a:extLst>
              <a:ext uri="{FF2B5EF4-FFF2-40B4-BE49-F238E27FC236}">
                <a16:creationId xmlns:a16="http://schemas.microsoft.com/office/drawing/2014/main" id="{6CD6FBF2-FFAF-0C3D-466E-95F26ACA267E}"/>
              </a:ext>
            </a:extLst>
          </p:cNvPr>
          <p:cNvSpPr txBox="1"/>
          <p:nvPr/>
        </p:nvSpPr>
        <p:spPr>
          <a:xfrm>
            <a:off x="8765791" y="5157048"/>
            <a:ext cx="3306792" cy="1107996"/>
          </a:xfrm>
          <a:prstGeom prst="rect">
            <a:avLst/>
          </a:prstGeom>
          <a:noFill/>
        </p:spPr>
        <p:txBody>
          <a:bodyPr wrap="square" rtlCol="0">
            <a:spAutoFit/>
          </a:bodyPr>
          <a:lstStyle/>
          <a:p>
            <a:r>
              <a:rPr lang="en-US" sz="2200" dirty="0"/>
              <a:t>Presented by:</a:t>
            </a:r>
            <a:br>
              <a:rPr lang="en-US" sz="2200" dirty="0"/>
            </a:br>
            <a:r>
              <a:rPr lang="en-US" sz="2200" dirty="0"/>
              <a:t>  </a:t>
            </a:r>
            <a:r>
              <a:rPr lang="en-US" sz="2000" dirty="0"/>
              <a:t>Arsh Handa</a:t>
            </a:r>
          </a:p>
          <a:p>
            <a:r>
              <a:rPr lang="en-US" sz="2000" dirty="0"/>
              <a:t>  Sonali Hooda</a:t>
            </a:r>
            <a:endParaRPr lang="en-IN" sz="2000" dirty="0"/>
          </a:p>
        </p:txBody>
      </p:sp>
    </p:spTree>
    <p:extLst>
      <p:ext uri="{BB962C8B-B14F-4D97-AF65-F5344CB8AC3E}">
        <p14:creationId xmlns:p14="http://schemas.microsoft.com/office/powerpoint/2010/main" val="314076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B8E42-F7F1-3456-F9F2-B0AA6D4236BA}"/>
              </a:ext>
            </a:extLst>
          </p:cNvPr>
          <p:cNvSpPr>
            <a:spLocks noGrp="1"/>
          </p:cNvSpPr>
          <p:nvPr>
            <p:ph type="title"/>
          </p:nvPr>
        </p:nvSpPr>
        <p:spPr>
          <a:xfrm>
            <a:off x="792911" y="658423"/>
            <a:ext cx="10606177" cy="1446422"/>
          </a:xfrm>
        </p:spPr>
        <p:txBody>
          <a:bodyPr/>
          <a:lstStyle/>
          <a:p>
            <a:pPr algn="ctr"/>
            <a:r>
              <a:rPr lang="en-US" dirty="0"/>
              <a:t>Chaos theory </a:t>
            </a:r>
            <a:endParaRPr lang="en-IN" dirty="0"/>
          </a:p>
        </p:txBody>
      </p:sp>
      <p:sp>
        <p:nvSpPr>
          <p:cNvPr id="3" name="Content Placeholder 2">
            <a:extLst>
              <a:ext uri="{FF2B5EF4-FFF2-40B4-BE49-F238E27FC236}">
                <a16:creationId xmlns:a16="http://schemas.microsoft.com/office/drawing/2014/main" id="{DA705E95-6BC4-180A-0290-FC0FCC9D1ED3}"/>
              </a:ext>
            </a:extLst>
          </p:cNvPr>
          <p:cNvSpPr>
            <a:spLocks noGrp="1"/>
          </p:cNvSpPr>
          <p:nvPr>
            <p:ph idx="1"/>
          </p:nvPr>
        </p:nvSpPr>
        <p:spPr>
          <a:xfrm>
            <a:off x="838200" y="2285701"/>
            <a:ext cx="10515600" cy="2832639"/>
          </a:xfrm>
        </p:spPr>
        <p:txBody>
          <a:bodyPr>
            <a:normAutofit/>
          </a:bodyPr>
          <a:lstStyle/>
          <a:p>
            <a:pPr marL="0" indent="0" algn="just">
              <a:buNone/>
            </a:pPr>
            <a:r>
              <a:rPr lang="en-US" sz="2300" dirty="0"/>
              <a:t>Chaos Theory studies predictable systems that behave unpredictably due to extreme sensitivity to initial conditions (the Butterfly Effect). Though governed by fixed rules, tiny variations cause vastly different outcomes, making long-term forecasting impossible. Examples include weather, pendulums, and fractals. It reveals hidden patterns in nature while limiting predictability in complex systems.</a:t>
            </a:r>
            <a:endParaRPr lang="en-IN" sz="2300" dirty="0"/>
          </a:p>
        </p:txBody>
      </p:sp>
    </p:spTree>
    <p:extLst>
      <p:ext uri="{BB962C8B-B14F-4D97-AF65-F5344CB8AC3E}">
        <p14:creationId xmlns:p14="http://schemas.microsoft.com/office/powerpoint/2010/main" val="1007933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11025AF-B800-4A98-0A34-C5EF8782E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98933" y="2068632"/>
            <a:ext cx="4493067" cy="280816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4842EF0-DC69-CBE4-3EBA-1F6A18C7DBEE}"/>
              </a:ext>
            </a:extLst>
          </p:cNvPr>
          <p:cNvSpPr>
            <a:spLocks noGrp="1"/>
          </p:cNvSpPr>
          <p:nvPr>
            <p:ph type="title"/>
          </p:nvPr>
        </p:nvSpPr>
        <p:spPr>
          <a:xfrm>
            <a:off x="838200" y="342121"/>
            <a:ext cx="10515600" cy="1325563"/>
          </a:xfrm>
        </p:spPr>
        <p:txBody>
          <a:bodyPr/>
          <a:lstStyle/>
          <a:p>
            <a:pPr algn="ctr"/>
            <a:r>
              <a:rPr lang="en-US" dirty="0"/>
              <a:t>Chua circuit </a:t>
            </a:r>
            <a:endParaRPr lang="en-IN" dirty="0"/>
          </a:p>
        </p:txBody>
      </p:sp>
      <p:sp>
        <p:nvSpPr>
          <p:cNvPr id="3" name="Content Placeholder 2">
            <a:extLst>
              <a:ext uri="{FF2B5EF4-FFF2-40B4-BE49-F238E27FC236}">
                <a16:creationId xmlns:a16="http://schemas.microsoft.com/office/drawing/2014/main" id="{56D3C4EF-BBB2-EB3B-16D5-A9C8079DFD92}"/>
              </a:ext>
            </a:extLst>
          </p:cNvPr>
          <p:cNvSpPr>
            <a:spLocks noGrp="1"/>
          </p:cNvSpPr>
          <p:nvPr>
            <p:ph idx="1"/>
          </p:nvPr>
        </p:nvSpPr>
        <p:spPr>
          <a:xfrm>
            <a:off x="838199" y="1842487"/>
            <a:ext cx="6983083" cy="4575565"/>
          </a:xfrm>
        </p:spPr>
        <p:txBody>
          <a:bodyPr>
            <a:normAutofit/>
          </a:bodyPr>
          <a:lstStyle/>
          <a:p>
            <a:pPr marL="0" indent="0" algn="just">
              <a:buNone/>
            </a:pPr>
            <a:r>
              <a:rPr lang="en-US" sz="2300" dirty="0"/>
              <a:t>Chua's circuit is a fundamental chaotic circuit combining linear elements consisting of inductor, resistors, capacitors with a crucial nonlinear resistor (Chua's diode). This nonlinear component, whose resistance varies with voltage/current, enables chaotic behavior. The complete circuit requires just 2 op-amps, 6 resistors, 2 capacitors, 1 inductor, and a tuning resistor. This simple yet powerful configuration makes Chua's circuit an ideal platform for studying chaos, demonstrating how deterministic systems can produce unpredictable, complex dynamics through nonlinearity. Its reliability and easily adjustable parameters have made it a cornerstone of chaos research in electronics.</a:t>
            </a:r>
            <a:endParaRPr lang="en-IN" sz="2300" dirty="0"/>
          </a:p>
        </p:txBody>
      </p:sp>
    </p:spTree>
    <p:extLst>
      <p:ext uri="{BB962C8B-B14F-4D97-AF65-F5344CB8AC3E}">
        <p14:creationId xmlns:p14="http://schemas.microsoft.com/office/powerpoint/2010/main" val="756294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74E13-FF6B-E697-1BEA-D2368E84C95F}"/>
              </a:ext>
            </a:extLst>
          </p:cNvPr>
          <p:cNvSpPr>
            <a:spLocks noGrp="1"/>
          </p:cNvSpPr>
          <p:nvPr>
            <p:ph type="title"/>
          </p:nvPr>
        </p:nvSpPr>
        <p:spPr/>
        <p:txBody>
          <a:bodyPr/>
          <a:lstStyle/>
          <a:p>
            <a:pPr algn="ctr"/>
            <a:r>
              <a:rPr lang="en-US" dirty="0"/>
              <a:t>Non-linear resistor </a:t>
            </a:r>
            <a:endParaRPr lang="en-IN" dirty="0"/>
          </a:p>
        </p:txBody>
      </p:sp>
      <p:sp>
        <p:nvSpPr>
          <p:cNvPr id="3" name="Content Placeholder 2">
            <a:extLst>
              <a:ext uri="{FF2B5EF4-FFF2-40B4-BE49-F238E27FC236}">
                <a16:creationId xmlns:a16="http://schemas.microsoft.com/office/drawing/2014/main" id="{44996BBC-2497-F4A7-BA0C-370E6D83F63B}"/>
              </a:ext>
            </a:extLst>
          </p:cNvPr>
          <p:cNvSpPr>
            <a:spLocks noGrp="1"/>
          </p:cNvSpPr>
          <p:nvPr>
            <p:ph idx="1"/>
          </p:nvPr>
        </p:nvSpPr>
        <p:spPr>
          <a:xfrm>
            <a:off x="838200" y="1825625"/>
            <a:ext cx="7092351" cy="4351338"/>
          </a:xfrm>
        </p:spPr>
        <p:txBody>
          <a:bodyPr>
            <a:normAutofit/>
          </a:bodyPr>
          <a:lstStyle/>
          <a:p>
            <a:pPr marL="0" indent="0" algn="just">
              <a:buNone/>
            </a:pPr>
            <a:r>
              <a:rPr lang="en-US" sz="2300" dirty="0"/>
              <a:t>The nonlinear resistor (Chua's diode) is the chaos-generating heart of the circuit. Unlike regular resistors, its resistance actively changes with voltage, creating a special negative resistance region in its current-voltage curve. This forces the circuit to fold and stretch its behavior unpredictably. Built using 2 op-amps + 6 resistors to create precise voltage-dependent resistance produces three distinct slopes in its response: two positive, one negative Enables chaotic effects like the double-scroll attractor without this carefully designed nonlinearity, Chua's circuit would behave as a predictable oscillator. The nonlinear resistor's voltage-sensitive switching is what makes it a classic chaos demonstration.</a:t>
            </a:r>
            <a:endParaRPr lang="en-IN" sz="2300" dirty="0"/>
          </a:p>
        </p:txBody>
      </p:sp>
      <p:pic>
        <p:nvPicPr>
          <p:cNvPr id="4" name="Picture 3">
            <a:extLst>
              <a:ext uri="{FF2B5EF4-FFF2-40B4-BE49-F238E27FC236}">
                <a16:creationId xmlns:a16="http://schemas.microsoft.com/office/drawing/2014/main" id="{B49610F2-E8B9-B23F-DDB1-0FA0C06967E8}"/>
              </a:ext>
            </a:extLst>
          </p:cNvPr>
          <p:cNvPicPr>
            <a:picLocks noChangeAspect="1"/>
          </p:cNvPicPr>
          <p:nvPr/>
        </p:nvPicPr>
        <p:blipFill>
          <a:blip r:embed="rId2"/>
          <a:stretch>
            <a:fillRect/>
          </a:stretch>
        </p:blipFill>
        <p:spPr>
          <a:xfrm>
            <a:off x="8820660" y="730783"/>
            <a:ext cx="2809552" cy="2698217"/>
          </a:xfrm>
          <a:prstGeom prst="rect">
            <a:avLst/>
          </a:prstGeom>
        </p:spPr>
      </p:pic>
      <p:pic>
        <p:nvPicPr>
          <p:cNvPr id="2050" name="Picture 2" descr="3. Implementation of Chua's diode using Op.Amps. (operational amplifiers).  | Download Scientific Diagram">
            <a:extLst>
              <a:ext uri="{FF2B5EF4-FFF2-40B4-BE49-F238E27FC236}">
                <a16:creationId xmlns:a16="http://schemas.microsoft.com/office/drawing/2014/main" id="{AF23D5EF-3805-BEEC-3E0E-D58282E97E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3989" y="3536894"/>
            <a:ext cx="3563429" cy="2898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6782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3AD7C-17EC-1660-FCE9-4E07E874D8C0}"/>
              </a:ext>
            </a:extLst>
          </p:cNvPr>
          <p:cNvSpPr>
            <a:spLocks noGrp="1"/>
          </p:cNvSpPr>
          <p:nvPr>
            <p:ph type="title"/>
          </p:nvPr>
        </p:nvSpPr>
        <p:spPr>
          <a:xfrm>
            <a:off x="240102" y="5759511"/>
            <a:ext cx="10515600" cy="1325563"/>
          </a:xfrm>
        </p:spPr>
        <p:txBody>
          <a:bodyPr>
            <a:normAutofit/>
          </a:bodyPr>
          <a:lstStyle/>
          <a:p>
            <a:r>
              <a:rPr lang="en-US" sz="2500" dirty="0"/>
              <a:t>Chua circuit- </a:t>
            </a:r>
            <a:r>
              <a:rPr lang="en-US" sz="2500" dirty="0" err="1"/>
              <a:t>LTspice</a:t>
            </a:r>
            <a:r>
              <a:rPr lang="en-US" sz="2500" dirty="0"/>
              <a:t> simulation </a:t>
            </a:r>
            <a:endParaRPr lang="en-IN" sz="2500" dirty="0"/>
          </a:p>
        </p:txBody>
      </p:sp>
      <p:pic>
        <p:nvPicPr>
          <p:cNvPr id="7" name="Picture 6">
            <a:extLst>
              <a:ext uri="{FF2B5EF4-FFF2-40B4-BE49-F238E27FC236}">
                <a16:creationId xmlns:a16="http://schemas.microsoft.com/office/drawing/2014/main" id="{0B5BAD45-79F2-8AFF-859E-B480B8C0F8C9}"/>
              </a:ext>
            </a:extLst>
          </p:cNvPr>
          <p:cNvPicPr>
            <a:picLocks noChangeAspect="1"/>
          </p:cNvPicPr>
          <p:nvPr/>
        </p:nvPicPr>
        <p:blipFill>
          <a:blip r:embed="rId2"/>
          <a:stretch>
            <a:fillRect/>
          </a:stretch>
        </p:blipFill>
        <p:spPr>
          <a:xfrm>
            <a:off x="358715" y="172372"/>
            <a:ext cx="11474569" cy="5871870"/>
          </a:xfrm>
          <a:prstGeom prst="rect">
            <a:avLst/>
          </a:prstGeom>
        </p:spPr>
      </p:pic>
    </p:spTree>
    <p:extLst>
      <p:ext uri="{BB962C8B-B14F-4D97-AF65-F5344CB8AC3E}">
        <p14:creationId xmlns:p14="http://schemas.microsoft.com/office/powerpoint/2010/main" val="932037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30AC216-A020-5B26-D930-6AE0E6226289}"/>
              </a:ext>
            </a:extLst>
          </p:cNvPr>
          <p:cNvPicPr>
            <a:picLocks noGrp="1" noChangeAspect="1"/>
          </p:cNvPicPr>
          <p:nvPr>
            <p:ph idx="1"/>
          </p:nvPr>
        </p:nvPicPr>
        <p:blipFill>
          <a:blip r:embed="rId2"/>
          <a:stretch>
            <a:fillRect/>
          </a:stretch>
        </p:blipFill>
        <p:spPr>
          <a:xfrm>
            <a:off x="480518" y="104174"/>
            <a:ext cx="7527953" cy="3242119"/>
          </a:xfrm>
        </p:spPr>
      </p:pic>
      <p:pic>
        <p:nvPicPr>
          <p:cNvPr id="7" name="Picture 6">
            <a:extLst>
              <a:ext uri="{FF2B5EF4-FFF2-40B4-BE49-F238E27FC236}">
                <a16:creationId xmlns:a16="http://schemas.microsoft.com/office/drawing/2014/main" id="{8FFFCA17-E09D-6D84-4329-DB6C4570637E}"/>
              </a:ext>
            </a:extLst>
          </p:cNvPr>
          <p:cNvPicPr>
            <a:picLocks noChangeAspect="1"/>
          </p:cNvPicPr>
          <p:nvPr/>
        </p:nvPicPr>
        <p:blipFill>
          <a:blip r:embed="rId3"/>
          <a:stretch>
            <a:fillRect/>
          </a:stretch>
        </p:blipFill>
        <p:spPr>
          <a:xfrm>
            <a:off x="480518" y="3511708"/>
            <a:ext cx="7527953" cy="3176658"/>
          </a:xfrm>
          <a:prstGeom prst="rect">
            <a:avLst/>
          </a:prstGeom>
        </p:spPr>
      </p:pic>
      <p:sp>
        <p:nvSpPr>
          <p:cNvPr id="9" name="TextBox 8">
            <a:extLst>
              <a:ext uri="{FF2B5EF4-FFF2-40B4-BE49-F238E27FC236}">
                <a16:creationId xmlns:a16="http://schemas.microsoft.com/office/drawing/2014/main" id="{969F12EB-4316-5D08-A297-C16E471BEFB3}"/>
              </a:ext>
            </a:extLst>
          </p:cNvPr>
          <p:cNvSpPr txBox="1"/>
          <p:nvPr/>
        </p:nvSpPr>
        <p:spPr>
          <a:xfrm>
            <a:off x="8110071" y="2922494"/>
            <a:ext cx="1633332" cy="369332"/>
          </a:xfrm>
          <a:prstGeom prst="rect">
            <a:avLst/>
          </a:prstGeom>
          <a:noFill/>
        </p:spPr>
        <p:txBody>
          <a:bodyPr wrap="none" rtlCol="0">
            <a:spAutoFit/>
          </a:bodyPr>
          <a:lstStyle/>
          <a:p>
            <a:r>
              <a:rPr lang="en-US" dirty="0"/>
              <a:t>V2 against time</a:t>
            </a:r>
            <a:endParaRPr lang="en-IN" dirty="0"/>
          </a:p>
        </p:txBody>
      </p:sp>
      <p:sp>
        <p:nvSpPr>
          <p:cNvPr id="10" name="TextBox 9">
            <a:extLst>
              <a:ext uri="{FF2B5EF4-FFF2-40B4-BE49-F238E27FC236}">
                <a16:creationId xmlns:a16="http://schemas.microsoft.com/office/drawing/2014/main" id="{2019365B-12B5-D9AD-6193-2EF89310F8BD}"/>
              </a:ext>
            </a:extLst>
          </p:cNvPr>
          <p:cNvSpPr txBox="1"/>
          <p:nvPr/>
        </p:nvSpPr>
        <p:spPr>
          <a:xfrm>
            <a:off x="8110071" y="6203576"/>
            <a:ext cx="1633332" cy="369332"/>
          </a:xfrm>
          <a:prstGeom prst="rect">
            <a:avLst/>
          </a:prstGeom>
          <a:noFill/>
        </p:spPr>
        <p:txBody>
          <a:bodyPr wrap="none" rtlCol="0">
            <a:spAutoFit/>
          </a:bodyPr>
          <a:lstStyle/>
          <a:p>
            <a:r>
              <a:rPr lang="en-US" dirty="0"/>
              <a:t>V1 against time</a:t>
            </a:r>
            <a:endParaRPr lang="en-IN" dirty="0"/>
          </a:p>
        </p:txBody>
      </p:sp>
    </p:spTree>
    <p:extLst>
      <p:ext uri="{BB962C8B-B14F-4D97-AF65-F5344CB8AC3E}">
        <p14:creationId xmlns:p14="http://schemas.microsoft.com/office/powerpoint/2010/main" val="20146839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3980-6A7C-236D-554F-044B75543761}"/>
              </a:ext>
            </a:extLst>
          </p:cNvPr>
          <p:cNvSpPr>
            <a:spLocks noGrp="1"/>
          </p:cNvSpPr>
          <p:nvPr>
            <p:ph type="title"/>
          </p:nvPr>
        </p:nvSpPr>
        <p:spPr/>
        <p:txBody>
          <a:bodyPr/>
          <a:lstStyle/>
          <a:p>
            <a:pPr algn="ctr"/>
            <a:r>
              <a:rPr lang="en-US" dirty="0"/>
              <a:t>Inductor replaced Chua Circuits</a:t>
            </a:r>
            <a:endParaRPr lang="en-IN" dirty="0"/>
          </a:p>
        </p:txBody>
      </p:sp>
      <p:sp>
        <p:nvSpPr>
          <p:cNvPr id="3" name="Content Placeholder 2">
            <a:extLst>
              <a:ext uri="{FF2B5EF4-FFF2-40B4-BE49-F238E27FC236}">
                <a16:creationId xmlns:a16="http://schemas.microsoft.com/office/drawing/2014/main" id="{9C89F01A-6CBE-48C3-F2BA-AFE5F696DB0E}"/>
              </a:ext>
            </a:extLst>
          </p:cNvPr>
          <p:cNvSpPr>
            <a:spLocks noGrp="1"/>
          </p:cNvSpPr>
          <p:nvPr>
            <p:ph idx="1"/>
          </p:nvPr>
        </p:nvSpPr>
        <p:spPr>
          <a:xfrm>
            <a:off x="838200" y="1825625"/>
            <a:ext cx="7351143" cy="4351338"/>
          </a:xfrm>
        </p:spPr>
        <p:txBody>
          <a:bodyPr>
            <a:normAutofit/>
          </a:bodyPr>
          <a:lstStyle/>
          <a:p>
            <a:pPr marL="0" indent="0" algn="just">
              <a:buNone/>
            </a:pPr>
            <a:r>
              <a:rPr lang="en-US" sz="2300" dirty="0"/>
              <a:t>The circuit replaces a physical inductor with an op-amp-based active inductor (using resistors R7-R10 and capacitors). This design:</a:t>
            </a:r>
          </a:p>
          <a:p>
            <a:pPr algn="just"/>
            <a:r>
              <a:rPr lang="en-US" sz="2300" dirty="0"/>
              <a:t>Simulates inductance electronically (</a:t>
            </a:r>
            <a:r>
              <a:rPr lang="en-US" sz="2300" dirty="0" err="1"/>
              <a:t>L_eq</a:t>
            </a:r>
            <a:r>
              <a:rPr lang="en-US" sz="2300" dirty="0"/>
              <a:t> ≈ R7·R8·C) for compact, tunable chaos.</a:t>
            </a:r>
          </a:p>
          <a:p>
            <a:pPr algn="just"/>
            <a:r>
              <a:rPr lang="en-US" sz="2300" dirty="0"/>
              <a:t>Avoids drawbacks of real inductors (size, </a:t>
            </a:r>
            <a:r>
              <a:rPr lang="en-US" sz="2300" dirty="0" err="1"/>
              <a:t>parasitics</a:t>
            </a:r>
            <a:r>
              <a:rPr lang="en-US" sz="2300" dirty="0"/>
              <a:t>, nonlinearity).</a:t>
            </a:r>
          </a:p>
          <a:p>
            <a:pPr algn="just"/>
            <a:r>
              <a:rPr lang="en-US" sz="2300" dirty="0"/>
              <a:t>Preserves chaotic behavior (double-scroll attractor, bifurcations) identically to passive designs.</a:t>
            </a:r>
          </a:p>
          <a:p>
            <a:pPr marL="0" indent="0" algn="just">
              <a:buNone/>
            </a:pPr>
            <a:r>
              <a:rPr lang="en-US" sz="2300" dirty="0"/>
              <a:t>Ideal for ICs or experiments requiring precise, adjustable chaos.</a:t>
            </a:r>
            <a:endParaRPr lang="en-IN" sz="2300" dirty="0"/>
          </a:p>
        </p:txBody>
      </p:sp>
      <p:pic>
        <p:nvPicPr>
          <p:cNvPr id="6" name="Picture 5">
            <a:extLst>
              <a:ext uri="{FF2B5EF4-FFF2-40B4-BE49-F238E27FC236}">
                <a16:creationId xmlns:a16="http://schemas.microsoft.com/office/drawing/2014/main" id="{66F4D7AF-BE7D-42EA-0890-114D48C17306}"/>
              </a:ext>
            </a:extLst>
          </p:cNvPr>
          <p:cNvPicPr>
            <a:picLocks noChangeAspect="1"/>
          </p:cNvPicPr>
          <p:nvPr/>
        </p:nvPicPr>
        <p:blipFill>
          <a:blip r:embed="rId2"/>
          <a:stretch>
            <a:fillRect/>
          </a:stretch>
        </p:blipFill>
        <p:spPr>
          <a:xfrm>
            <a:off x="8670384" y="1547003"/>
            <a:ext cx="2763929" cy="4523117"/>
          </a:xfrm>
          <a:prstGeom prst="rect">
            <a:avLst/>
          </a:prstGeom>
        </p:spPr>
      </p:pic>
    </p:spTree>
    <p:extLst>
      <p:ext uri="{BB962C8B-B14F-4D97-AF65-F5344CB8AC3E}">
        <p14:creationId xmlns:p14="http://schemas.microsoft.com/office/powerpoint/2010/main" val="1615639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595F0-2FC8-BFAF-D8F4-97395D82D29E}"/>
              </a:ext>
            </a:extLst>
          </p:cNvPr>
          <p:cNvSpPr>
            <a:spLocks noGrp="1"/>
          </p:cNvSpPr>
          <p:nvPr>
            <p:ph type="title"/>
          </p:nvPr>
        </p:nvSpPr>
        <p:spPr>
          <a:xfrm>
            <a:off x="215900" y="5576887"/>
            <a:ext cx="10515600" cy="1325563"/>
          </a:xfrm>
        </p:spPr>
        <p:txBody>
          <a:bodyPr>
            <a:normAutofit/>
          </a:bodyPr>
          <a:lstStyle/>
          <a:p>
            <a:r>
              <a:rPr lang="en-US" sz="2500" dirty="0"/>
              <a:t>Inductor replaced Chua circuit- </a:t>
            </a:r>
            <a:r>
              <a:rPr lang="en-US" sz="2500" dirty="0" err="1"/>
              <a:t>LTspice</a:t>
            </a:r>
            <a:r>
              <a:rPr lang="en-US" sz="2500" dirty="0"/>
              <a:t> simulation </a:t>
            </a:r>
            <a:endParaRPr lang="en-IN" sz="2500" dirty="0"/>
          </a:p>
        </p:txBody>
      </p:sp>
      <p:pic>
        <p:nvPicPr>
          <p:cNvPr id="7" name="Picture 6">
            <a:extLst>
              <a:ext uri="{FF2B5EF4-FFF2-40B4-BE49-F238E27FC236}">
                <a16:creationId xmlns:a16="http://schemas.microsoft.com/office/drawing/2014/main" id="{A879CB86-A8AB-870F-6530-85690A86DF23}"/>
              </a:ext>
            </a:extLst>
          </p:cNvPr>
          <p:cNvPicPr>
            <a:picLocks noChangeAspect="1"/>
          </p:cNvPicPr>
          <p:nvPr/>
        </p:nvPicPr>
        <p:blipFill>
          <a:blip r:embed="rId2"/>
          <a:stretch>
            <a:fillRect/>
          </a:stretch>
        </p:blipFill>
        <p:spPr>
          <a:xfrm>
            <a:off x="330200" y="102174"/>
            <a:ext cx="11531600" cy="5775820"/>
          </a:xfrm>
          <a:prstGeom prst="rect">
            <a:avLst/>
          </a:prstGeom>
        </p:spPr>
      </p:pic>
    </p:spTree>
    <p:extLst>
      <p:ext uri="{BB962C8B-B14F-4D97-AF65-F5344CB8AC3E}">
        <p14:creationId xmlns:p14="http://schemas.microsoft.com/office/powerpoint/2010/main" val="3870321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9D0C3-13CE-79E6-8BC9-8C989142E689}"/>
              </a:ext>
            </a:extLst>
          </p:cNvPr>
          <p:cNvSpPr>
            <a:spLocks noGrp="1"/>
          </p:cNvSpPr>
          <p:nvPr>
            <p:ph type="title"/>
          </p:nvPr>
        </p:nvSpPr>
        <p:spPr>
          <a:xfrm>
            <a:off x="838200" y="466725"/>
            <a:ext cx="10515600" cy="1325563"/>
          </a:xfrm>
        </p:spPr>
        <p:txBody>
          <a:bodyPr/>
          <a:lstStyle/>
          <a:p>
            <a:pPr algn="ctr"/>
            <a:r>
              <a:rPr lang="en-US" dirty="0" err="1"/>
              <a:t>Multiscroll</a:t>
            </a:r>
            <a:r>
              <a:rPr lang="en-US" dirty="0"/>
              <a:t> oscillator </a:t>
            </a:r>
            <a:r>
              <a:rPr lang="en-US" dirty="0" err="1"/>
              <a:t>chua</a:t>
            </a:r>
            <a:r>
              <a:rPr lang="en-US" dirty="0"/>
              <a:t> circuit</a:t>
            </a:r>
            <a:endParaRPr lang="en-IN" dirty="0"/>
          </a:p>
        </p:txBody>
      </p:sp>
      <p:sp>
        <p:nvSpPr>
          <p:cNvPr id="3" name="Content Placeholder 2">
            <a:extLst>
              <a:ext uri="{FF2B5EF4-FFF2-40B4-BE49-F238E27FC236}">
                <a16:creationId xmlns:a16="http://schemas.microsoft.com/office/drawing/2014/main" id="{F6A7A20F-8B02-C2F3-013D-708C3391BDC5}"/>
              </a:ext>
            </a:extLst>
          </p:cNvPr>
          <p:cNvSpPr>
            <a:spLocks noGrp="1"/>
          </p:cNvSpPr>
          <p:nvPr>
            <p:ph idx="1"/>
          </p:nvPr>
        </p:nvSpPr>
        <p:spPr>
          <a:xfrm>
            <a:off x="838200" y="1939178"/>
            <a:ext cx="10515600" cy="4351338"/>
          </a:xfrm>
        </p:spPr>
        <p:txBody>
          <a:bodyPr>
            <a:normAutofit/>
          </a:bodyPr>
          <a:lstStyle/>
          <a:p>
            <a:pPr marL="0" indent="0">
              <a:buNone/>
            </a:pPr>
            <a:r>
              <a:rPr lang="en-US" sz="2300" dirty="0"/>
              <a:t>The Chua's </a:t>
            </a:r>
            <a:r>
              <a:rPr lang="en-US" sz="2300" dirty="0" err="1"/>
              <a:t>Multiscroll</a:t>
            </a:r>
            <a:r>
              <a:rPr lang="en-US" sz="2300" dirty="0"/>
              <a:t> Oscillator is an extension of the classic Chua's circuit, which is a well-known chaotic system. The nonlinearity (Chua’s diode) is redesigned to have multiple breakpoints (instead of just two in the classic case). This creates additional equilibrium points, each contributing to a new "scroll" in the chaotic attractor. The state variables (</a:t>
            </a:r>
            <a:r>
              <a:rPr lang="en-US" sz="2300" dirty="0" err="1"/>
              <a:t>x,y,z</a:t>
            </a:r>
            <a:r>
              <a:rPr lang="en-US" sz="2300" dirty="0"/>
              <a:t>) evolve according to coupled differential equations with a piecewise-linear (PWL) or smooth nonlinear function. As trajectories switch between different regions (due to the modified nonlinearity), they spiral around multiple unstable fixed points, generating 3, 4, or even more scrolls. The system is more complex and useful for applications like secure communications, random number generation, and chaos-based encryption.</a:t>
            </a:r>
            <a:endParaRPr lang="en-IN" sz="2300" dirty="0"/>
          </a:p>
        </p:txBody>
      </p:sp>
    </p:spTree>
    <p:extLst>
      <p:ext uri="{BB962C8B-B14F-4D97-AF65-F5344CB8AC3E}">
        <p14:creationId xmlns:p14="http://schemas.microsoft.com/office/powerpoint/2010/main" val="11948608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D6805-572B-04FF-554D-64EF9B26BDF7}"/>
              </a:ext>
            </a:extLst>
          </p:cNvPr>
          <p:cNvSpPr>
            <a:spLocks noGrp="1"/>
          </p:cNvSpPr>
          <p:nvPr>
            <p:ph type="title"/>
          </p:nvPr>
        </p:nvSpPr>
        <p:spPr>
          <a:xfrm>
            <a:off x="168835" y="5604155"/>
            <a:ext cx="10515600" cy="1325563"/>
          </a:xfrm>
        </p:spPr>
        <p:txBody>
          <a:bodyPr>
            <a:normAutofit/>
          </a:bodyPr>
          <a:lstStyle/>
          <a:p>
            <a:r>
              <a:rPr lang="en-US" sz="2500" dirty="0" err="1"/>
              <a:t>Multiscroll</a:t>
            </a:r>
            <a:r>
              <a:rPr lang="en-US" sz="2500" dirty="0"/>
              <a:t> Chua oscillator </a:t>
            </a:r>
            <a:endParaRPr lang="en-IN" sz="2500" dirty="0"/>
          </a:p>
        </p:txBody>
      </p:sp>
      <p:pic>
        <p:nvPicPr>
          <p:cNvPr id="7" name="Picture 6">
            <a:extLst>
              <a:ext uri="{FF2B5EF4-FFF2-40B4-BE49-F238E27FC236}">
                <a16:creationId xmlns:a16="http://schemas.microsoft.com/office/drawing/2014/main" id="{AE94C008-79E7-8958-2E69-6B8B2D04CFE1}"/>
              </a:ext>
            </a:extLst>
          </p:cNvPr>
          <p:cNvPicPr>
            <a:picLocks noChangeAspect="1"/>
          </p:cNvPicPr>
          <p:nvPr/>
        </p:nvPicPr>
        <p:blipFill>
          <a:blip r:embed="rId2"/>
          <a:stretch>
            <a:fillRect/>
          </a:stretch>
        </p:blipFill>
        <p:spPr>
          <a:xfrm>
            <a:off x="274918" y="123206"/>
            <a:ext cx="11688482" cy="5797520"/>
          </a:xfrm>
          <a:prstGeom prst="rect">
            <a:avLst/>
          </a:prstGeom>
        </p:spPr>
      </p:pic>
    </p:spTree>
    <p:extLst>
      <p:ext uri="{BB962C8B-B14F-4D97-AF65-F5344CB8AC3E}">
        <p14:creationId xmlns:p14="http://schemas.microsoft.com/office/powerpoint/2010/main" val="23313675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TotalTime>
  <Words>549</Words>
  <Application>Microsoft Office PowerPoint</Application>
  <PresentationFormat>Widescreen</PresentationFormat>
  <Paragraphs>23</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Design and Implementation of FPGA-based secured communication system</vt:lpstr>
      <vt:lpstr>Chaos theory </vt:lpstr>
      <vt:lpstr>Chua circuit </vt:lpstr>
      <vt:lpstr>Non-linear resistor </vt:lpstr>
      <vt:lpstr>Chua circuit- LTspice simulation </vt:lpstr>
      <vt:lpstr>PowerPoint Presentation</vt:lpstr>
      <vt:lpstr>Inductor replaced Chua Circuits</vt:lpstr>
      <vt:lpstr>Inductor replaced Chua circuit- LTspice simulation </vt:lpstr>
      <vt:lpstr>Multiscroll oscillator chua circuit</vt:lpstr>
      <vt:lpstr>Multiscroll Chua oscillator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Arsh Handa</dc:creator>
  <cp:lastModifiedBy>Arsh Handa</cp:lastModifiedBy>
  <cp:revision>6</cp:revision>
  <dcterms:created xsi:type="dcterms:W3CDTF">2025-07-02T09:50:36Z</dcterms:created>
  <dcterms:modified xsi:type="dcterms:W3CDTF">2025-07-04T06:48:59Z</dcterms:modified>
</cp:coreProperties>
</file>